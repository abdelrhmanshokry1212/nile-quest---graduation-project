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4"/>
  </p:notesMasterIdLst>
  <p:sldIdLst>
    <p:sldId id="256" r:id="rId2"/>
    <p:sldId id="311" r:id="rId3"/>
    <p:sldId id="290" r:id="rId4"/>
    <p:sldId id="291" r:id="rId5"/>
    <p:sldId id="294" r:id="rId6"/>
    <p:sldId id="296" r:id="rId7"/>
    <p:sldId id="292" r:id="rId8"/>
    <p:sldId id="300" r:id="rId9"/>
    <p:sldId id="301" r:id="rId10"/>
    <p:sldId id="297" r:id="rId11"/>
    <p:sldId id="298" r:id="rId12"/>
    <p:sldId id="309" r:id="rId13"/>
    <p:sldId id="308" r:id="rId14"/>
    <p:sldId id="306" r:id="rId15"/>
    <p:sldId id="307" r:id="rId16"/>
    <p:sldId id="293" r:id="rId17"/>
    <p:sldId id="303" r:id="rId18"/>
    <p:sldId id="310" r:id="rId19"/>
    <p:sldId id="304" r:id="rId20"/>
    <p:sldId id="305" r:id="rId21"/>
    <p:sldId id="302" r:id="rId22"/>
    <p:sldId id="289" r:id="rId23"/>
  </p:sldIdLst>
  <p:sldSz cx="12192000" cy="6858000"/>
  <p:notesSz cx="6858000" cy="9144000"/>
  <p:embeddedFontLst>
    <p:embeddedFont>
      <p:font typeface="Montserrat" panose="02000505000000020004" pitchFamily="2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B49"/>
    <a:srgbClr val="000000"/>
    <a:srgbClr val="3876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94"/>
  </p:normalViewPr>
  <p:slideViewPr>
    <p:cSldViewPr snapToGrid="0">
      <p:cViewPr varScale="1">
        <p:scale>
          <a:sx n="83" d="100"/>
          <a:sy n="83" d="100"/>
        </p:scale>
        <p:origin x="701" y="22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0789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09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31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32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8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42470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365759" y="457200"/>
            <a:ext cx="4406267" cy="113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3200"/>
              <a:buFont typeface="Calibri"/>
              <a:buNone/>
              <a:defRPr sz="3200" b="0">
                <a:solidFill>
                  <a:srgbClr val="54984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5770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365759" y="1591293"/>
            <a:ext cx="4406267" cy="4277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" name="Google Shape;19;p2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65759" y="365125"/>
            <a:ext cx="113944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365759" y="2037805"/>
            <a:ext cx="11394442" cy="4564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4247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 descr="Picture 9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65759" y="396967"/>
            <a:ext cx="4406267" cy="107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3200"/>
              <a:buFont typeface="Calibri"/>
              <a:buNone/>
              <a:defRPr sz="3200" b="0">
                <a:solidFill>
                  <a:srgbClr val="54984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577013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365759" y="1472539"/>
            <a:ext cx="4406267" cy="439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4" descr="Picture 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4481" y="-34485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365759" y="365124"/>
            <a:ext cx="11394442" cy="6237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4481" y="-344850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 descr="Picture 8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53077"/>
            <a:ext cx="5650752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365759" y="396967"/>
            <a:ext cx="11394442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365759" y="1825625"/>
            <a:ext cx="56540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4" name="Google Shape;44;p6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 descr="Picture 4"/>
          <p:cNvPicPr preferRelativeResize="0"/>
          <p:nvPr/>
        </p:nvPicPr>
        <p:blipFill rotWithShape="1">
          <a:blip r:embed="rId2">
            <a:alphaModFix/>
          </a:blip>
          <a:srcRect l="14782" r="1177" b="33070"/>
          <a:stretch/>
        </p:blipFill>
        <p:spPr>
          <a:xfrm>
            <a:off x="-66334" y="-224413"/>
            <a:ext cx="12258335" cy="7082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 descr="Picture 6"/>
          <p:cNvPicPr preferRelativeResize="0"/>
          <p:nvPr/>
        </p:nvPicPr>
        <p:blipFill rotWithShape="1">
          <a:blip r:embed="rId3">
            <a:alphaModFix/>
          </a:blip>
          <a:srcRect r="12112" b="13463"/>
          <a:stretch/>
        </p:blipFill>
        <p:spPr>
          <a:xfrm>
            <a:off x="7344353" y="710117"/>
            <a:ext cx="4831689" cy="615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 descr="Picture 7"/>
          <p:cNvPicPr preferRelativeResize="0"/>
          <p:nvPr/>
        </p:nvPicPr>
        <p:blipFill rotWithShape="1">
          <a:blip r:embed="rId4">
            <a:alphaModFix/>
          </a:blip>
          <a:srcRect l="26633" t="1500" b="11569"/>
          <a:stretch/>
        </p:blipFill>
        <p:spPr>
          <a:xfrm>
            <a:off x="-52252" y="-104503"/>
            <a:ext cx="5865223" cy="694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 descr="Picture 12"/>
          <p:cNvPicPr preferRelativeResize="0"/>
          <p:nvPr/>
        </p:nvPicPr>
        <p:blipFill rotWithShape="1">
          <a:blip r:embed="rId3">
            <a:alphaModFix/>
          </a:blip>
          <a:srcRect r="12112" b="13463"/>
          <a:stretch/>
        </p:blipFill>
        <p:spPr>
          <a:xfrm>
            <a:off x="7344353" y="701409"/>
            <a:ext cx="4831689" cy="615659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8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40495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 descr="Picture 6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5307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8" descr="Pictur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365759" y="396967"/>
            <a:ext cx="11394442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4400"/>
              <a:buFont typeface="Arial"/>
              <a:buNone/>
              <a:defRPr sz="4400" b="0">
                <a:solidFill>
                  <a:srgbClr val="54984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8" descr="Picture 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461816"/>
            <a:ext cx="4657725" cy="3524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 descr="Picture 13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4454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 descr="Picture 10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1248" y="-34454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 descr="Picture 8"/>
          <p:cNvPicPr preferRelativeResize="0"/>
          <p:nvPr/>
        </p:nvPicPr>
        <p:blipFill rotWithShape="1">
          <a:blip r:embed="rId3">
            <a:alphaModFix/>
          </a:blip>
          <a:srcRect l="19399" t="1159" b="2872"/>
          <a:stretch/>
        </p:blipFill>
        <p:spPr>
          <a:xfrm>
            <a:off x="-1" y="-16779"/>
            <a:ext cx="8934995" cy="688784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5282891" y="3233734"/>
            <a:ext cx="6509307" cy="110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7200"/>
              <a:buFont typeface="Arial"/>
              <a:buNone/>
              <a:defRPr sz="7200" b="0">
                <a:solidFill>
                  <a:srgbClr val="10234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5282891" y="4419336"/>
            <a:ext cx="6282268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9" descr="Picture 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11637" y="-2755041"/>
            <a:ext cx="5591499" cy="77925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>
  <p:cSld name="Vertical Title and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 descr="Picture 9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 descr="Picture 7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4444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 descr="Picture 6"/>
          <p:cNvPicPr preferRelativeResize="0"/>
          <p:nvPr/>
        </p:nvPicPr>
        <p:blipFill rotWithShape="1">
          <a:blip r:embed="rId2">
            <a:alphaModFix/>
          </a:blip>
          <a:srcRect r="12118" b="13340"/>
          <a:stretch/>
        </p:blipFill>
        <p:spPr>
          <a:xfrm>
            <a:off x="6548352" y="-353077"/>
            <a:ext cx="5650753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0" descr="Picture 10"/>
          <p:cNvPicPr preferRelativeResize="0"/>
          <p:nvPr/>
        </p:nvPicPr>
        <p:blipFill rotWithShape="1">
          <a:blip r:embed="rId3">
            <a:alphaModFix/>
          </a:blip>
          <a:srcRect l="27355" t="66917" r="24008" b="23368"/>
          <a:stretch/>
        </p:blipFill>
        <p:spPr>
          <a:xfrm>
            <a:off x="3889984" y="5658463"/>
            <a:ext cx="4640828" cy="1199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10"/>
          <p:cNvGrpSpPr/>
          <p:nvPr/>
        </p:nvGrpSpPr>
        <p:grpSpPr>
          <a:xfrm>
            <a:off x="3452374" y="3317964"/>
            <a:ext cx="5304664" cy="915130"/>
            <a:chOff x="0" y="0"/>
            <a:chExt cx="5304662" cy="915128"/>
          </a:xfrm>
        </p:grpSpPr>
        <p:sp>
          <p:nvSpPr>
            <p:cNvPr id="73" name="Google Shape;73;p10"/>
            <p:cNvSpPr/>
            <p:nvPr/>
          </p:nvSpPr>
          <p:spPr>
            <a:xfrm>
              <a:off x="0" y="0"/>
              <a:ext cx="5304662" cy="915128"/>
            </a:xfrm>
            <a:prstGeom prst="rect">
              <a:avLst/>
            </a:prstGeom>
            <a:solidFill>
              <a:srgbClr val="102346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" name="Google Shape;74;p10" descr="image10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304662" cy="9151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5" name="Google Shape;75;p10" descr="Picture 12"/>
          <p:cNvPicPr preferRelativeResize="0"/>
          <p:nvPr/>
        </p:nvPicPr>
        <p:blipFill rotWithShape="1">
          <a:blip r:embed="rId5">
            <a:alphaModFix/>
          </a:blip>
          <a:srcRect t="31570" b="29953"/>
          <a:stretch/>
        </p:blipFill>
        <p:spPr>
          <a:xfrm>
            <a:off x="3678601" y="339633"/>
            <a:ext cx="4852212" cy="263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0" descr="Picture 13"/>
          <p:cNvPicPr preferRelativeResize="0"/>
          <p:nvPr/>
        </p:nvPicPr>
        <p:blipFill rotWithShape="1">
          <a:blip r:embed="rId6">
            <a:alphaModFix/>
          </a:blip>
          <a:srcRect l="26633" t="1500" b="11570"/>
          <a:stretch/>
        </p:blipFill>
        <p:spPr>
          <a:xfrm>
            <a:off x="-65315" y="-1"/>
            <a:ext cx="5865223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Picture 8"/>
          <p:cNvPicPr preferRelativeResize="0"/>
          <p:nvPr/>
        </p:nvPicPr>
        <p:blipFill rotWithShape="1">
          <a:blip r:embed="rId11">
            <a:alphaModFix/>
          </a:blip>
          <a:srcRect r="12118" b="13340"/>
          <a:stretch/>
        </p:blipFill>
        <p:spPr>
          <a:xfrm>
            <a:off x="6541248" y="-340494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 descr="Picture 7"/>
          <p:cNvPicPr preferRelativeResize="0"/>
          <p:nvPr/>
        </p:nvPicPr>
        <p:blipFill rotWithShape="1">
          <a:blip r:embed="rId11">
            <a:alphaModFix/>
          </a:blip>
          <a:srcRect r="12118" b="13340"/>
          <a:stretch/>
        </p:blipFill>
        <p:spPr>
          <a:xfrm>
            <a:off x="6538452" y="-340494"/>
            <a:ext cx="5650753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365759" y="365125"/>
            <a:ext cx="113944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062B4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365759" y="2037805"/>
            <a:ext cx="11394442" cy="4564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" name="Google Shape;10;p1" descr="Picture 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1608907"/>
            <a:ext cx="5378245" cy="2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Picture 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74425"/>
            <a:ext cx="12192000" cy="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s.priceline.com/new-priceline-research-finds-average-traveler-spends-two-full-work-days-to-plan-and-book-trip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40636521_A_Multi-Level_Tourism_Destination_Recommender_System/fulltext/5e96668792851c2f52a2de6c/A-Multi-Level-Tourism-Destination-Recommender-System.pdf?_tp=eyJjb250ZXh0Ijp7ImZpcnN0UGFnZSI6InNpZ251cCIsInBhZ2UiOiJwdWJsaWNhdGlvbiJ9fQ" TargetMode="External"/><Relationship Id="rId3" Type="http://schemas.openxmlformats.org/officeDocument/2006/relationships/hyperlink" Target="https://navan.com/blog/online-travel-booking-statistics" TargetMode="External"/><Relationship Id="rId7" Type="http://schemas.openxmlformats.org/officeDocument/2006/relationships/hyperlink" Target="https://mfth.journals.ekb.eg/article_385750_9eeee543d5964bbf1fe5234588ebd461.pdf" TargetMode="External"/><Relationship Id="rId2" Type="http://schemas.openxmlformats.org/officeDocument/2006/relationships/hyperlink" Target="https://evisa-to-egypt.info/blog/top-challenges-faced-by-tourists-in-egyp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ss.priceline.com/new-priceline-research-finds-average-traveler-spends-two-full-work-days-to-plan-and-book-trips/" TargetMode="External"/><Relationship Id="rId5" Type="http://schemas.openxmlformats.org/officeDocument/2006/relationships/hyperlink" Target="https://www.travelperk.com/blog/online-travel-booking-statistics/" TargetMode="External"/><Relationship Id="rId4" Type="http://schemas.openxmlformats.org/officeDocument/2006/relationships/hyperlink" Target="https://www.oecd.org/content/dam/oecd/en/publications/reports/2024/02/oecd-economic-surveys-egypt-2024_ad9fc8a4/af900de2-en.pdf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/>
        </p:nvSpPr>
        <p:spPr>
          <a:xfrm>
            <a:off x="5463875" y="2318339"/>
            <a:ext cx="5638234" cy="136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2200" b="1" dirty="0">
                <a:solidFill>
                  <a:srgbClr val="38761D"/>
                </a:solidFill>
              </a:rPr>
              <a:t>Title: Intelligent Egypt Travel Companion Using AI – NileQuest</a:t>
            </a:r>
            <a:endParaRPr sz="2200" dirty="0">
              <a:solidFill>
                <a:srgbClr val="38761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endParaRPr sz="2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 txBox="1"/>
          <p:nvPr/>
        </p:nvSpPr>
        <p:spPr>
          <a:xfrm>
            <a:off x="5463875" y="3498730"/>
            <a:ext cx="6190828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Name:</a:t>
            </a:r>
          </a:p>
          <a:p>
            <a:r>
              <a:rPr lang="en-US" sz="2000" dirty="0" err="1"/>
              <a:t>Abdelrhman</a:t>
            </a:r>
            <a:r>
              <a:rPr lang="en-US" sz="2000" dirty="0"/>
              <a:t> </a:t>
            </a:r>
            <a:r>
              <a:rPr lang="en-US" sz="2000" dirty="0" err="1"/>
              <a:t>Shokry</a:t>
            </a:r>
            <a:r>
              <a:rPr lang="en-US" sz="2000" dirty="0"/>
              <a:t> ID: 232163 – Major: Software Engineering</a:t>
            </a:r>
          </a:p>
          <a:p>
            <a:r>
              <a:rPr lang="en-US" sz="2000" dirty="0" err="1"/>
              <a:t>Abraam</a:t>
            </a:r>
            <a:r>
              <a:rPr lang="en-US" sz="2000" dirty="0"/>
              <a:t> </a:t>
            </a:r>
            <a:r>
              <a:rPr lang="en-US" sz="2000" dirty="0" err="1"/>
              <a:t>Refaat</a:t>
            </a:r>
            <a:r>
              <a:rPr lang="en-US" sz="2000" dirty="0"/>
              <a:t> ID: 234459 – Major: Software Engineering</a:t>
            </a:r>
          </a:p>
          <a:p>
            <a:pPr marR="0" lvl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  <p:pic>
        <p:nvPicPr>
          <p:cNvPr id="2" name="Picture 1" descr="A logo with a black background&#10;&#10;Description automatically generated">
            <a:extLst>
              <a:ext uri="{FF2B5EF4-FFF2-40B4-BE49-F238E27FC236}">
                <a16:creationId xmlns:a16="http://schemas.microsoft.com/office/drawing/2014/main" xmlns="" id="{67A80A83-95DB-A5F0-BB4B-48C137643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07" b="16807"/>
          <a:stretch/>
        </p:blipFill>
        <p:spPr>
          <a:xfrm>
            <a:off x="8891657" y="0"/>
            <a:ext cx="2723315" cy="1177675"/>
          </a:xfrm>
          <a:prstGeom prst="rect">
            <a:avLst/>
          </a:prstGeom>
        </p:spPr>
      </p:pic>
      <p:pic>
        <p:nvPicPr>
          <p:cNvPr id="3" name="Picture 2" descr="A circular logo with a head and text&#10;&#10;Description automatically generated">
            <a:extLst>
              <a:ext uri="{FF2B5EF4-FFF2-40B4-BE49-F238E27FC236}">
                <a16:creationId xmlns:a16="http://schemas.microsoft.com/office/drawing/2014/main" xmlns="" id="{BADA7F01-CB2B-C5E9-A52A-B445BC215A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000" y="105809"/>
            <a:ext cx="1070361" cy="1070361"/>
          </a:xfrm>
          <a:prstGeom prst="rect">
            <a:avLst/>
          </a:prstGeom>
        </p:spPr>
      </p:pic>
      <p:pic>
        <p:nvPicPr>
          <p:cNvPr id="4" name="Picture 3" descr="A gold logo with black background&#10;&#10;Description automatically generated">
            <a:extLst>
              <a:ext uri="{FF2B5EF4-FFF2-40B4-BE49-F238E27FC236}">
                <a16:creationId xmlns:a16="http://schemas.microsoft.com/office/drawing/2014/main" xmlns="" id="{9DAFB2A7-43A1-50A2-337B-FBB0577BA1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29" y="105809"/>
            <a:ext cx="1623523" cy="10703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63875" y="5401735"/>
            <a:ext cx="4779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Supervised By Dr. Ahmed Mohamed EL-</a:t>
            </a:r>
            <a:r>
              <a:rPr lang="en-US" dirty="0" err="1"/>
              <a:t>Sayed</a:t>
            </a:r>
            <a:r>
              <a:rPr lang="en-US" dirty="0"/>
              <a:t> EL-</a:t>
            </a:r>
            <a:r>
              <a:rPr lang="en-US" dirty="0" err="1"/>
              <a:t>Shamy</a:t>
            </a:r>
            <a:endParaRPr lang="en-US" dirty="0"/>
          </a:p>
          <a:p>
            <a:r>
              <a:rPr lang="en-US" dirty="0"/>
              <a:t>TA Supervisor Eng. </a:t>
            </a:r>
            <a:r>
              <a:rPr lang="en-US" dirty="0" err="1"/>
              <a:t>Hanaa</a:t>
            </a:r>
            <a:r>
              <a:rPr lang="en-US" dirty="0"/>
              <a:t> </a:t>
            </a:r>
            <a:r>
              <a:rPr lang="en-US" dirty="0" err="1"/>
              <a:t>Abdelahad</a:t>
            </a:r>
            <a:r>
              <a:rPr lang="en-US" dirty="0"/>
              <a:t> </a:t>
            </a:r>
            <a:r>
              <a:rPr lang="en-US" dirty="0" err="1"/>
              <a:t>Wakwak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08" y="1176170"/>
            <a:ext cx="713509" cy="7135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244" y="1176170"/>
            <a:ext cx="713509" cy="7135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38545" cy="6858000"/>
          </a:xfrm>
          <a:prstGeom prst="rect">
            <a:avLst/>
          </a:prstGeom>
          <a:solidFill>
            <a:srgbClr val="062B49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35709" y="434109"/>
            <a:ext cx="3011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Montserrat" panose="02000505000000020004" pitchFamily="2" charset="0"/>
              </a:rPr>
              <a:t>Agenda</a:t>
            </a:r>
            <a:endParaRPr lang="en-US" sz="5400" dirty="0">
              <a:solidFill>
                <a:schemeClr val="bg1"/>
              </a:solidFill>
              <a:latin typeface="Montserrat" panose="02000505000000020004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5710" y="1791548"/>
            <a:ext cx="3445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35709" y="1357439"/>
            <a:ext cx="577433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Introduction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Montserrat" panose="02000505000000020004" pitchFamily="2" charset="0"/>
              </a:rPr>
              <a:t>Top Challenges Faced by Tourists in Egypt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Montserrat" panose="02000505000000020004" pitchFamily="2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Problem Definition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b="1" dirty="0" smtClean="0">
                <a:solidFill>
                  <a:schemeClr val="bg1"/>
                </a:solidFill>
                <a:latin typeface="Montserrat" panose="02000505000000020004" pitchFamily="2" charset="0"/>
              </a:rPr>
              <a:t>Objectives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Montserrat" panose="02000505000000020004" pitchFamily="2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Motivation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Related Work (1 &amp; 2)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Dataset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System Architecture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Expected Outcomes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Requirements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Plan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00505000000020004" pitchFamily="2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0954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9614A0-FCEB-B948-0E96-35042F95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65125"/>
            <a:ext cx="4474096" cy="1325563"/>
          </a:xfrm>
        </p:spPr>
        <p:txBody>
          <a:bodyPr>
            <a:normAutofit/>
          </a:bodyPr>
          <a:lstStyle/>
          <a:p>
            <a:r>
              <a:rPr lang="en-US" sz="3600" kern="1400" dirty="0">
                <a:solidFill>
                  <a:schemeClr val="accent6">
                    <a:lumMod val="50000"/>
                  </a:schemeClr>
                </a:solidFill>
                <a:latin typeface="Montserrat" panose="02000505000000020004" pitchFamily="2" charset="0"/>
              </a:rPr>
              <a:t>Introduction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62708E-AA72-FAF8-B433-121B4D1AE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59" y="2398022"/>
            <a:ext cx="5841077" cy="325010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</a:rPr>
              <a:t>Intelligent Egypt Travel Companion </a:t>
            </a:r>
            <a:r>
              <a:rPr lang="en-US" sz="1800" dirty="0">
                <a:solidFill>
                  <a:schemeClr val="tx1"/>
                </a:solidFill>
              </a:rPr>
              <a:t>is a </a:t>
            </a:r>
            <a:r>
              <a:rPr lang="en-US" sz="1800" b="1" dirty="0">
                <a:solidFill>
                  <a:schemeClr val="tx1"/>
                </a:solidFill>
              </a:rPr>
              <a:t>smart tourism platform</a:t>
            </a:r>
            <a:r>
              <a:rPr lang="en-US" sz="1800" dirty="0">
                <a:solidFill>
                  <a:schemeClr val="tx1"/>
                </a:solidFill>
              </a:rPr>
              <a:t> that enhances travel in Egypt by helping visitors </a:t>
            </a:r>
            <a:r>
              <a:rPr lang="en-US" sz="1800" b="1" dirty="0">
                <a:solidFill>
                  <a:schemeClr val="tx1"/>
                </a:solidFill>
              </a:rPr>
              <a:t>discover destinations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b="1" dirty="0">
                <a:solidFill>
                  <a:schemeClr val="tx1"/>
                </a:solidFill>
              </a:rPr>
              <a:t>plan trips</a:t>
            </a:r>
            <a:r>
              <a:rPr lang="en-US" sz="1800" dirty="0">
                <a:solidFill>
                  <a:schemeClr val="tx1"/>
                </a:solidFill>
              </a:rPr>
              <a:t>, and </a:t>
            </a:r>
            <a:r>
              <a:rPr lang="en-US" sz="1800" b="1" dirty="0">
                <a:solidFill>
                  <a:schemeClr val="tx1"/>
                </a:solidFill>
              </a:rPr>
              <a:t>enjoy a seamless travel experience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indent="-457200"/>
            <a:r>
              <a:rPr lang="en-US" sz="1800" b="1" dirty="0">
                <a:solidFill>
                  <a:schemeClr val="tx1"/>
                </a:solidFill>
              </a:rPr>
              <a:t>Connects travelers with local businesses</a:t>
            </a:r>
            <a:r>
              <a:rPr lang="en-US" sz="1800" dirty="0">
                <a:solidFill>
                  <a:schemeClr val="tx1"/>
                </a:solidFill>
              </a:rPr>
              <a:t> and promotes Egypt’s rich attractions.</a:t>
            </a:r>
          </a:p>
          <a:p>
            <a:pPr indent="-457200"/>
            <a:r>
              <a:rPr lang="en-US" sz="1800" b="1" dirty="0">
                <a:solidFill>
                  <a:schemeClr val="tx1"/>
                </a:solidFill>
              </a:rPr>
              <a:t>Simplifies trip planning</a:t>
            </a:r>
            <a:r>
              <a:rPr lang="en-US" sz="1800" dirty="0">
                <a:solidFill>
                  <a:schemeClr val="tx1"/>
                </a:solidFill>
              </a:rPr>
              <a:t> through personalized recommendations.</a:t>
            </a:r>
          </a:p>
          <a:p>
            <a:pPr indent="-457200"/>
            <a:r>
              <a:rPr lang="en-US" sz="1800" b="1" dirty="0">
                <a:solidFill>
                  <a:schemeClr val="tx1"/>
                </a:solidFill>
              </a:rPr>
              <a:t>Drives tourism growth</a:t>
            </a:r>
            <a:r>
              <a:rPr lang="en-US" sz="1800" dirty="0">
                <a:solidFill>
                  <a:schemeClr val="tx1"/>
                </a:solidFill>
              </a:rPr>
              <a:t> while creating new opportunities for service providers.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580AEF0-3A47-90EE-DA19-6DF1DEF595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336" y="1996199"/>
            <a:ext cx="5103223" cy="3827417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43682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Montserrat" panose="02000505000000020004" pitchFamily="2" charset="0"/>
              </a:rPr>
              <a:t>Top Challenges Faced by Tourists in Egypt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65758" y="2100324"/>
            <a:ext cx="8011623" cy="195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400" b="1" dirty="0">
                <a:solidFill>
                  <a:srgbClr val="062B49"/>
                </a:solidFill>
              </a:rPr>
              <a:t>Trip Planning and Booking Frustration</a:t>
            </a:r>
          </a:p>
          <a:p>
            <a:pPr marL="114300" indent="0">
              <a:buNone/>
            </a:pPr>
            <a:r>
              <a:rPr lang="en-US" sz="2400" dirty="0"/>
              <a:t>Many tourists struggle to balance cultural exploration, leisure, and logistics due to fragmented information and inconsistent booking platforms, leading to repeated searches, pricing confusion, and overall frustration.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365759" y="4283537"/>
            <a:ext cx="8011622" cy="195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62B49"/>
                </a:solidFill>
              </a:rPr>
              <a:t>Booking Process 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sz="2400" dirty="0"/>
              <a:t>Complex booking steps and comparison shopping cause high abandonment rates (around 81%), creating inefficiencies for travelers planning multi-destination trips in Egypt.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150" y="4283537"/>
            <a:ext cx="1982149" cy="19821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95" y="2274747"/>
            <a:ext cx="1603458" cy="160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9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9" y="374362"/>
            <a:ext cx="11394442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Montserrat" panose="02000505000000020004" pitchFamily="2" charset="0"/>
              </a:rPr>
              <a:t>Top Challenges Faced by Tourists in Egypt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8" y="2028569"/>
            <a:ext cx="7965442" cy="2053904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62B49"/>
                </a:solidFill>
              </a:rPr>
              <a:t>Safety Concerns</a:t>
            </a:r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>While Egypt’s security has improved, tourists should stay updated on current conditions, follow travel advisories, and avoid high-risk areas. Use reputable tour operators and transportation for </a:t>
            </a:r>
            <a:r>
              <a:rPr lang="en-US" sz="2400" dirty="0" smtClean="0"/>
              <a:t>safety.</a:t>
            </a:r>
            <a:endParaRPr lang="en-US" sz="1800" i="1" u="sn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365758" y="4243785"/>
            <a:ext cx="7965441" cy="195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62B49"/>
                </a:solidFill>
              </a:rPr>
              <a:t>Language Barrier</a:t>
            </a:r>
            <a:endParaRPr lang="en-US" sz="2400" dirty="0"/>
          </a:p>
          <a:p>
            <a:pPr marL="114300" indent="0">
              <a:lnSpc>
                <a:spcPct val="100000"/>
              </a:lnSpc>
              <a:buNone/>
            </a:pPr>
            <a:r>
              <a:rPr lang="en-US" sz="2400" dirty="0"/>
              <a:t>Arabic is Egypt’s official language. English is common in tourist areas, but basic Arabic phrases or a translation app can help in less touristy regions.</a:t>
            </a:r>
          </a:p>
          <a:p>
            <a:pPr marL="114300" indent="0">
              <a:lnSpc>
                <a:spcPct val="100000"/>
              </a:lnSpc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908" y="4008282"/>
            <a:ext cx="2165254" cy="216525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621" y="2066190"/>
            <a:ext cx="1575827" cy="157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4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Montserrat" panose="02000505000000020004" pitchFamily="2" charset="0"/>
              </a:rPr>
              <a:t>Top Challenges Faced by Tourists in Egypt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529723"/>
              </p:ext>
            </p:extLst>
          </p:nvPr>
        </p:nvGraphicFramePr>
        <p:xfrm>
          <a:off x="375920" y="2588928"/>
          <a:ext cx="6958068" cy="2973672"/>
        </p:xfrm>
        <a:graphic>
          <a:graphicData uri="http://schemas.openxmlformats.org/drawingml/2006/table">
            <a:tbl>
              <a:tblPr/>
              <a:tblGrid>
                <a:gridCol w="22433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73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573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90040"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Challenge</a:t>
                      </a:r>
                      <a:endParaRPr lang="en-US" sz="3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Percentage Affected</a:t>
                      </a:r>
                      <a:endParaRPr lang="en-US" sz="3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Source</a:t>
                      </a:r>
                      <a:endParaRPr lang="en-US" sz="3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8524"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Itinerary Creation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~60% (estimated from general surveys)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OECD Economic Surveys: Egypt 2024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5036"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Language Barriers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Significant portion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eVisa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to Egypt (2024)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5036"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Platform Fragmentation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70.5% mobile traffic issues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Navan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(2025)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5036"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Booking Difficulty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81% abandonment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TravelPerk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(2024)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158" marR="92158" marT="46189" marB="4618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257" y="4029076"/>
            <a:ext cx="4150823" cy="25498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418" y="1494565"/>
            <a:ext cx="4150823" cy="243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5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ontserrat" panose="02000505000000020004" pitchFamily="2" charset="0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59" y="2313364"/>
            <a:ext cx="11394442" cy="3236159"/>
          </a:xfrm>
        </p:spPr>
        <p:txBody>
          <a:bodyPr>
            <a:normAutofit/>
          </a:bodyPr>
          <a:lstStyle/>
          <a:p>
            <a:r>
              <a:rPr lang="en-US" sz="2600" dirty="0"/>
              <a:t>Tourists visiting culturally rich destinations like </a:t>
            </a:r>
            <a:r>
              <a:rPr lang="en-US" sz="2600" dirty="0">
                <a:solidFill>
                  <a:srgbClr val="FF0000"/>
                </a:solidFill>
              </a:rPr>
              <a:t>Egypt</a:t>
            </a:r>
            <a:r>
              <a:rPr lang="en-US" sz="2600" dirty="0"/>
              <a:t> encounter significant challenges that reduce travel satisfaction and decision-making efficiency. Studies show that travelers spend up to </a:t>
            </a:r>
            <a:r>
              <a:rPr lang="en-US" sz="2600" dirty="0">
                <a:solidFill>
                  <a:srgbClr val="FF0000"/>
                </a:solidFill>
              </a:rPr>
              <a:t>16 hours planning and booking </a:t>
            </a:r>
            <a:r>
              <a:rPr lang="en-US" sz="2600" dirty="0"/>
              <a:t>a single trip across multiple platforms.</a:t>
            </a:r>
          </a:p>
          <a:p>
            <a:r>
              <a:rPr lang="en-US" sz="2600" dirty="0"/>
              <a:t>Result: </a:t>
            </a:r>
            <a:r>
              <a:rPr lang="en-US" sz="2600" dirty="0">
                <a:solidFill>
                  <a:srgbClr val="FF0000"/>
                </a:solidFill>
              </a:rPr>
              <a:t>information overload </a:t>
            </a:r>
            <a:r>
              <a:rPr lang="en-US" sz="2600" dirty="0"/>
              <a:t>and </a:t>
            </a:r>
            <a:r>
              <a:rPr lang="en-US" sz="2600" dirty="0">
                <a:solidFill>
                  <a:srgbClr val="FF0000"/>
                </a:solidFill>
              </a:rPr>
              <a:t>decision fatigue</a:t>
            </a:r>
            <a:r>
              <a:rPr lang="en-US" sz="2600" dirty="0"/>
              <a:t>. Existing travel systems provide generic recommendations and fail to capture Egypt’s </a:t>
            </a:r>
            <a:r>
              <a:rPr lang="en-US" sz="2600" dirty="0">
                <a:solidFill>
                  <a:srgbClr val="FF0000"/>
                </a:solidFill>
              </a:rPr>
              <a:t>historical depth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FF0000"/>
                </a:solidFill>
              </a:rPr>
              <a:t>regional diversity</a:t>
            </a:r>
            <a:r>
              <a:rPr lang="en-US" sz="2600" dirty="0"/>
              <a:t>, and </a:t>
            </a:r>
            <a:r>
              <a:rPr lang="en-US" sz="2600" dirty="0">
                <a:solidFill>
                  <a:srgbClr val="FF0000"/>
                </a:solidFill>
              </a:rPr>
              <a:t>cultural nuances</a:t>
            </a:r>
            <a:r>
              <a:rPr lang="en-US" sz="2600" dirty="0"/>
              <a:t>, leaving tourists to navigate </a:t>
            </a:r>
            <a:r>
              <a:rPr lang="en-US" sz="2600" dirty="0">
                <a:solidFill>
                  <a:srgbClr val="FF0000"/>
                </a:solidFill>
              </a:rPr>
              <a:t>fragmented resources</a:t>
            </a:r>
            <a:r>
              <a:rPr lang="en-US" sz="2600" dirty="0"/>
              <a:t>, repetitive searches, </a:t>
            </a:r>
            <a:r>
              <a:rPr lang="en-US" sz="2600" dirty="0">
                <a:solidFill>
                  <a:srgbClr val="FF0000"/>
                </a:solidFill>
              </a:rPr>
              <a:t>and inefficient planning processes</a:t>
            </a:r>
            <a:r>
              <a:rPr lang="en-US" sz="2600" dirty="0"/>
              <a:t>.</a:t>
            </a:r>
          </a:p>
          <a:p>
            <a:pPr marL="114300" indent="0">
              <a:buNone/>
            </a:pP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5759" y="5987533"/>
            <a:ext cx="118262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Priceline. (2024). </a:t>
            </a:r>
            <a:r>
              <a:rPr lang="en-US" sz="900" i="1" dirty="0"/>
              <a:t>New Priceline Research Finds Average Traveler Spends Two Full Work Days To Plan and Book Trips</a:t>
            </a:r>
            <a:r>
              <a:rPr lang="en-US" sz="900" dirty="0"/>
              <a:t>. Retrieved from </a:t>
            </a:r>
            <a:r>
              <a:rPr lang="en-US" sz="900" dirty="0">
                <a:hlinkClick r:id="rId3"/>
              </a:rPr>
              <a:t>https://press.priceline.com/new-priceline-research-finds-average-traveler-spends-two-full-work-days-to-plan-and-book-trips/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3676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8" y="355888"/>
            <a:ext cx="11394442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Montserrat" panose="02000505000000020004" pitchFamily="2" charset="0"/>
              </a:rPr>
              <a:t>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5759" y="2182347"/>
            <a:ext cx="11521441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58" y="2182347"/>
            <a:ext cx="11521441" cy="4847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Enhance Travel Experience:</a:t>
            </a:r>
            <a:r>
              <a:rPr lang="en-US" sz="1600" dirty="0"/>
              <a:t> Deliver a seamless, personalized travel companion for Egypt tourists, reducing planning time from 16 hours to a streamlined process.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Improve Decision-Making: </a:t>
            </a:r>
            <a:r>
              <a:rPr lang="en-US" sz="1600" dirty="0"/>
              <a:t>Reduce information overload and decision fatigue with tailored itineraries, real-time recommendations, and integrated bookings.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Cultural Promotion: </a:t>
            </a:r>
            <a:r>
              <a:rPr lang="en-US" sz="1600" dirty="0"/>
              <a:t>Digitally showcase Egypt’s historical and cultural attractions, connecting tourists with local businesses.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Safety and Quality: </a:t>
            </a:r>
            <a:r>
              <a:rPr lang="en-US" sz="1600" dirty="0"/>
              <a:t>Enhance tourism quality and tourist safety through emergency information and smart guidance.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Technical Skills: </a:t>
            </a:r>
            <a:r>
              <a:rPr lang="en-US" sz="1600" dirty="0"/>
              <a:t>Provide hands-on experience in AI, NLP, recommendation systems, mobile app development.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761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Montserrat" panose="02000505000000020004" pitchFamily="2" charset="0"/>
              </a:rPr>
              <a:t>Motivation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5892800" y="6345524"/>
            <a:ext cx="2844800" cy="3683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65759" y="2429636"/>
            <a:ext cx="67739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Connection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Inspired by pride in Egypt’s rich heritage and cultural values.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Addressing Issues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Motivated to reduce tourist scams, safety concerns, and poor experiences.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Upliftment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Desire to enhance Egypt’s global image through smart tourism.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Benefit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Aims to help tourists and boost local economy with better travel solutions.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489" y="1888193"/>
            <a:ext cx="3317011" cy="40994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97499" y="6043461"/>
            <a:ext cx="4842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Photo captured inside Great Pyramid on October 23, 2025, during research phase.</a:t>
            </a:r>
          </a:p>
        </p:txBody>
      </p:sp>
    </p:spTree>
    <p:extLst>
      <p:ext uri="{BB962C8B-B14F-4D97-AF65-F5344CB8AC3E}">
        <p14:creationId xmlns:p14="http://schemas.microsoft.com/office/powerpoint/2010/main" val="95745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Related Work(1/2)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756" y="2656478"/>
            <a:ext cx="107086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AI's Role in Tourism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AI revolutionizes Egyptian tourism with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recommendation systems, and data analytics, enabling personalized experiences and efficient operations 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Sigala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2020; Hsu et al., 2022).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Quality Importance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Drives satisfaction, loyalty, and repeat visits through personalization, safety measures, and cultural sensitivity 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Azhar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al., 2019;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Zenker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Kock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2020).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Effects on Quality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Enhances service quality dimensions (reliability, responsiveness, empathy) via personalized recommendations, and virtual assistants 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Fahim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2019;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Newgen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2023). 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65758" y="4654758"/>
            <a:ext cx="107086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Outdated Sources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Relies on pre-2024 literature; misses 2025 advancements like AI in tourism marketing, spending patterns, RAISA adoption (e.g., recent studies on Egypt).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Scope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Focuses on general AI; ignores specific tools (offline support) and sectors like hotels/agencies; no sustainability focus.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Methodological Issues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Convenience sampling limits generalizability; lacks empirical data on AI's economic impacts or workforce effects in Egypt.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6" y="1900061"/>
            <a:ext cx="11148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Literature Review : " The impact of Artificial Intelligence on improving tourism service quality in The Egyptian destination"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6" y="419259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Gaps</a:t>
            </a:r>
            <a:r>
              <a:rPr lang="en-US" sz="2400" b="1" dirty="0"/>
              <a:t>:</a:t>
            </a:r>
            <a:endParaRPr lang="en-US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0923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Related Work(2/2)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141" y="2793487"/>
            <a:ext cx="4344060" cy="337871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5125" y="2161728"/>
            <a:ext cx="96968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Literature Review: "A Multi-Level Tourism Destination Recommender System"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125" y="3032879"/>
            <a:ext cx="705101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Two-Level Architecture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Combines collaborative filtering (selects destinations popular among similar users) with knowledge-based filtering (ranks based on user preferences and constraints).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City-Level Destination Focus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Recommends initial destinations matching high-level needs (e.g., weather, cost, activities); does not support detailed, sequential itinerary planning within destinations.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Contextual Data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Uses web scrapers for real-time data (accommodation prices, weather, safety, traffic) to ensure context-aware, up-to-date ranking. </a:t>
            </a:r>
          </a:p>
        </p:txBody>
      </p:sp>
    </p:spTree>
    <p:extLst>
      <p:ext uri="{BB962C8B-B14F-4D97-AF65-F5344CB8AC3E}">
        <p14:creationId xmlns:p14="http://schemas.microsoft.com/office/powerpoint/2010/main" val="345542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Related Work(2/2)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5758" y="2057492"/>
            <a:ext cx="1056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Gaps: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758" y="2753907"/>
            <a:ext cx="1005903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Narrow Scope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Focuses only on city-level destination selection, ignoring detailed itinerary planning, cultural nuances, and local business integration specific to regions like Egypt.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Implementation or Evaluation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Proposes a conceptual framework without real-world deployment, testing, or empirical validation of effectiveness.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Dynamic Context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Relies on web scraping for basic real-time data (e.g., weather, prices) but lacks multimodal AI, NLP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offline support for seamless user interaction. </a:t>
            </a:r>
          </a:p>
        </p:txBody>
      </p:sp>
    </p:spTree>
    <p:extLst>
      <p:ext uri="{BB962C8B-B14F-4D97-AF65-F5344CB8AC3E}">
        <p14:creationId xmlns:p14="http://schemas.microsoft.com/office/powerpoint/2010/main" val="2379775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C2253A-780D-DFC8-13CE-965DA1AD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C6F861B-EA1A-C5CD-8811-C0D8F5498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59" y="2571205"/>
            <a:ext cx="6675121" cy="3600995"/>
          </a:xfrm>
        </p:spPr>
        <p:txBody>
          <a:bodyPr>
            <a:noAutofit/>
          </a:bodyPr>
          <a:lstStyle/>
          <a:p>
            <a:r>
              <a:rPr lang="en-US" sz="2000" dirty="0"/>
              <a:t>The web-scraped dataset contains comprehensive information about Egypt’s most significant </a:t>
            </a:r>
            <a:r>
              <a:rPr lang="en-US" sz="2000" b="1" dirty="0"/>
              <a:t>tourist and heritage sites</a:t>
            </a:r>
            <a:r>
              <a:rPr lang="en-US" sz="2000" dirty="0"/>
              <a:t>, including </a:t>
            </a:r>
            <a:r>
              <a:rPr lang="en-US" sz="2000" b="1" dirty="0"/>
              <a:t>mosques, palaces, museums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It was compiled from multiple verified online sources to provide an integrated view of Egypt’s cultural and historical landmarks.</a:t>
            </a:r>
          </a:p>
          <a:p>
            <a:r>
              <a:rPr lang="en-US" sz="2000" dirty="0"/>
              <a:t>Each record in the dataset represents a unique attraction, enriched with essential geographical, operational, and visitor-related attributes that support tourism analytics, recommendation systems, and itinerary generation.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07C83B8-6080-B344-00D1-EF16768C88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381" y="2783835"/>
            <a:ext cx="4517820" cy="338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65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C2253A-780D-DFC8-13CE-965DA1AD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C6F861B-EA1A-C5CD-8811-C0D8F5498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59" y="2540726"/>
            <a:ext cx="11394442" cy="2760948"/>
          </a:xfrm>
        </p:spPr>
        <p:txBody>
          <a:bodyPr>
            <a:noAutofit/>
          </a:bodyPr>
          <a:lstStyle/>
          <a:p>
            <a:r>
              <a:rPr lang="en-US" sz="2400" dirty="0" smtClean="0"/>
              <a:t>Availability </a:t>
            </a:r>
            <a:r>
              <a:rPr lang="en-US" sz="2400" dirty="0"/>
              <a:t>of Mature External Models: Pre-trained models (Dialogflow, Rasa, etc.) already provide state-of-the-art performance in NLP, multimodal reasoning, and text summarization.</a:t>
            </a:r>
          </a:p>
          <a:p>
            <a:endParaRPr lang="en-US" sz="2400" dirty="0"/>
          </a:p>
          <a:p>
            <a:r>
              <a:rPr lang="en-US" sz="2400" dirty="0"/>
              <a:t>Dynamic, Real-Time Use: The system operates on user-provided, real-time content. Each user generates their own contextual data dynamically.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07C83B8-6080-B344-00D1-EF16768C88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129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2FC655-2940-F3FC-8D89-B38A42F0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DAEF20-5193-EE48-6417-1CEAFB0D9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Scalability and Reliability</a:t>
            </a:r>
            <a:r>
              <a:rPr lang="en-US" sz="2400" dirty="0"/>
              <a:t> APIs like Mapbox, Google Places, Airbnb, Amadeus or Skyscanner handle billions of requests daily.</a:t>
            </a:r>
          </a:p>
          <a:p>
            <a:endParaRPr lang="en-US" sz="2400" dirty="0"/>
          </a:p>
          <a:p>
            <a:r>
              <a:rPr lang="en-US" sz="2400" b="1" dirty="0"/>
              <a:t>Continuous Improvement</a:t>
            </a:r>
            <a:r>
              <a:rPr lang="en-US" sz="2400" dirty="0"/>
              <a:t> External APIs are continuously updated with newer, more accurate models.</a:t>
            </a:r>
          </a:p>
          <a:p>
            <a:pPr marL="114300" indent="0">
              <a:buNone/>
            </a:pPr>
            <a:endParaRPr lang="en-US" sz="2400" dirty="0"/>
          </a:p>
          <a:p>
            <a:r>
              <a:rPr lang="en-US" sz="2400" b="1" dirty="0"/>
              <a:t>Focus on Educational Innovation</a:t>
            </a:r>
            <a:r>
              <a:rPr lang="en-US" sz="2400" dirty="0"/>
              <a:t> Outsourcing ML infrastructure allows the team to focus on user experience, accessibility.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FC554A8-DBE4-760E-E75D-974D642900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38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779" y="0"/>
            <a:ext cx="11394442" cy="1325563"/>
          </a:xfrm>
        </p:spPr>
        <p:txBody>
          <a:bodyPr/>
          <a:lstStyle/>
          <a:p>
            <a:r>
              <a:rPr lang="en-US" dirty="0"/>
              <a:t>System Architecture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5041"/>
            <a:ext cx="12192000" cy="590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85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EDF4FE-0A1E-3F4D-0D0C-751B5447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E6B9BD3-2CAE-04E2-A8E8-B6848694B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xmlns="" id="{9C53BBA7-1AA2-8C3B-DBB0-68E41E5BD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9899" y="2089020"/>
            <a:ext cx="1126580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unified, AI-powered travel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combines planning, booking, and real-time guidance — eliminating the need for multiple apps.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Faster, stress-free trip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personalized itineraries generated in minutes, improving user satisfaction.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Confident exploration of Egypt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all visitors, even first-timers, via multilingual AI support and real-time recommendations.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Smarter, evolving suggestions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driven by user behavior and feedback, promoting hidden gems and cultural experiences.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mastery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full-stack development, AI/NLP integration, API orchestration, and cloud deployment in a real-world mobile-first app. </a:t>
            </a:r>
          </a:p>
        </p:txBody>
      </p:sp>
    </p:spTree>
    <p:extLst>
      <p:ext uri="{BB962C8B-B14F-4D97-AF65-F5344CB8AC3E}">
        <p14:creationId xmlns:p14="http://schemas.microsoft.com/office/powerpoint/2010/main" val="1442512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24" y="1896944"/>
            <a:ext cx="1518985" cy="44594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115" y="2265524"/>
            <a:ext cx="2709333" cy="4064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782" y="2396024"/>
            <a:ext cx="1958545" cy="380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18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5EE274-B979-CF80-D622-CCA54236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161168-800E-1776-5DBB-95FE741ED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466B10D-88CD-A685-907F-EFF34CC24F57}"/>
              </a:ext>
            </a:extLst>
          </p:cNvPr>
          <p:cNvSpPr txBox="1"/>
          <p:nvPr/>
        </p:nvSpPr>
        <p:spPr>
          <a:xfrm>
            <a:off x="5892801" y="2653605"/>
            <a:ext cx="59389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Infrastructure &amp; Services: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Cache:</a:t>
            </a:r>
            <a:r>
              <a:rPr lang="en-US" sz="2000" dirty="0"/>
              <a:t> SQLite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Vector Database:</a:t>
            </a:r>
            <a:r>
              <a:rPr lang="en-US" sz="2000" dirty="0"/>
              <a:t> Milvus (for AI-powered recommendation engine)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Database:</a:t>
            </a:r>
            <a:r>
              <a:rPr lang="en-US" sz="2000" dirty="0"/>
              <a:t> PostgreSQL / Firebase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Hosting:</a:t>
            </a:r>
            <a:r>
              <a:rPr lang="en-US" sz="2000" dirty="0"/>
              <a:t> AWS </a:t>
            </a:r>
            <a:r>
              <a:rPr lang="en-US" sz="2000" dirty="0" smtClean="0"/>
              <a:t>/ </a:t>
            </a:r>
            <a:r>
              <a:rPr lang="en-US" sz="2000" dirty="0"/>
              <a:t>Firebase Hosting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APIs:</a:t>
            </a:r>
            <a:r>
              <a:rPr lang="en-US" sz="2000" dirty="0"/>
              <a:t> Mapbox Maps, Google Places, Amadeus, Skyscanner , Google Translate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Authentication: </a:t>
            </a:r>
            <a:r>
              <a:rPr lang="en-US" sz="2000" dirty="0"/>
              <a:t>OAuth (Google)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5759" y="2776715"/>
            <a:ext cx="5268423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&amp; Tools: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(with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 SDK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IDE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VS Code,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Studio)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project management and issue tracking)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(for version control and CI/CD integration)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623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FC9535-C326-2492-2FEC-9972FED02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779" y="255842"/>
            <a:ext cx="11394442" cy="1150171"/>
          </a:xfrm>
        </p:spPr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C072B27-2AD4-5CA3-E17C-59BD363115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F757F7DE-59A5-A3C8-6533-125605184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038"/>
            <a:ext cx="12192001" cy="568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78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05D484-A5CE-5EBE-0538-B5229017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817735"/>
            <a:ext cx="11394442" cy="912744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56D971-B867-26FF-44C9-4D939A81D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59" y="1976148"/>
            <a:ext cx="11394442" cy="4564353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 err="1"/>
              <a:t>eVisa</a:t>
            </a:r>
            <a:r>
              <a:rPr lang="en-US" sz="1600" dirty="0"/>
              <a:t> to Egypt. (2024). </a:t>
            </a:r>
            <a:r>
              <a:rPr lang="en-US" sz="1600" i="1" dirty="0"/>
              <a:t>Top Challenges Faced by Tourists in Egypt</a:t>
            </a:r>
            <a:r>
              <a:rPr lang="en-US" sz="1600" dirty="0"/>
              <a:t>. Retrieved from </a:t>
            </a:r>
            <a:r>
              <a:rPr lang="en-US" sz="1600" dirty="0">
                <a:hlinkClick r:id="rId2"/>
              </a:rPr>
              <a:t>https://evisa-to-egypt.info/blog/top-challenges-faced-by-tourists-in-egypt/</a:t>
            </a:r>
            <a:endParaRPr lang="en-US" sz="1600" dirty="0"/>
          </a:p>
          <a:p>
            <a:r>
              <a:rPr lang="en-US" sz="1600" dirty="0"/>
              <a:t>Navan. (2025). </a:t>
            </a:r>
            <a:r>
              <a:rPr lang="en-US" sz="1600" i="1" dirty="0"/>
              <a:t>87 Online Travel and Hotel Booking Stats [2025]</a:t>
            </a:r>
            <a:r>
              <a:rPr lang="en-US" sz="1600" dirty="0"/>
              <a:t>. Retrieved from </a:t>
            </a:r>
            <a:r>
              <a:rPr lang="en-US" sz="1600" dirty="0">
                <a:hlinkClick r:id="rId3"/>
              </a:rPr>
              <a:t>https://navan.com/blog/online-travel-booking-statistics</a:t>
            </a:r>
            <a:endParaRPr lang="en-US" sz="1600" dirty="0"/>
          </a:p>
          <a:p>
            <a:r>
              <a:rPr lang="en-US" sz="1600" dirty="0"/>
              <a:t>OECD. (2024). </a:t>
            </a:r>
            <a:r>
              <a:rPr lang="en-US" sz="1600" i="1" dirty="0"/>
              <a:t>OECD Economic Surveys: Egypt 2024</a:t>
            </a:r>
            <a:r>
              <a:rPr lang="en-US" sz="1600" dirty="0"/>
              <a:t>. Retrieved from </a:t>
            </a:r>
            <a:r>
              <a:rPr lang="en-US" sz="1600" dirty="0">
                <a:hlinkClick r:id="rId4"/>
              </a:rPr>
              <a:t>https://www.oecd.org/content/dam/oecd/en/publications/reports/2024/02/oecd-economic-surveys-egypt-2024_ad9fc8a4/af900de2-en.pdf</a:t>
            </a:r>
            <a:endParaRPr lang="en-US" sz="1600" dirty="0"/>
          </a:p>
          <a:p>
            <a:r>
              <a:rPr lang="en-US" sz="1600" dirty="0" err="1"/>
              <a:t>TravelPerk</a:t>
            </a:r>
            <a:r>
              <a:rPr lang="en-US" sz="1600" dirty="0"/>
              <a:t>. (2024). </a:t>
            </a:r>
            <a:r>
              <a:rPr lang="en-US" sz="1600" i="1" dirty="0"/>
              <a:t>70+ Online Travel Booking Statistics and Trends [2025]</a:t>
            </a:r>
            <a:r>
              <a:rPr lang="en-US" sz="1600" dirty="0"/>
              <a:t>. Retrieved from </a:t>
            </a:r>
            <a:r>
              <a:rPr lang="en-US" sz="1600" dirty="0">
                <a:hlinkClick r:id="rId5"/>
              </a:rPr>
              <a:t>https://www.travelperk.com/blog/online-travel-booking-statistics/</a:t>
            </a:r>
            <a:endParaRPr lang="en-US" sz="1600" dirty="0"/>
          </a:p>
          <a:p>
            <a:r>
              <a:rPr lang="en-US" sz="1600" dirty="0"/>
              <a:t>Priceline. (2024). </a:t>
            </a:r>
            <a:r>
              <a:rPr lang="en-US" sz="1600" i="1" dirty="0"/>
              <a:t>New Priceline Research Finds Average Traveler Spends Two Full Work Days To Plan and Book Trips</a:t>
            </a:r>
            <a:r>
              <a:rPr lang="en-US" sz="1600" dirty="0"/>
              <a:t>. Retrieved from </a:t>
            </a:r>
            <a:r>
              <a:rPr lang="en-US" sz="1600" dirty="0">
                <a:hlinkClick r:id="rId6"/>
              </a:rPr>
              <a:t>https://press.priceline.com/new-priceline-research-finds-average-traveler-spends-two-full-work-days-to-plan-and-book-trips/</a:t>
            </a:r>
            <a:endParaRPr lang="en-US" sz="1600" dirty="0"/>
          </a:p>
          <a:p>
            <a:r>
              <a:rPr lang="en-US" sz="1600" dirty="0"/>
              <a:t>Shalan, I. S., Gaafar, H., Al-</a:t>
            </a:r>
            <a:r>
              <a:rPr lang="en-US" sz="1600" dirty="0" err="1"/>
              <a:t>Romeedy</a:t>
            </a:r>
            <a:r>
              <a:rPr lang="en-US" sz="1600" dirty="0"/>
              <a:t>, B., &amp; </a:t>
            </a:r>
            <a:r>
              <a:rPr lang="en-US" sz="1600" dirty="0" err="1"/>
              <a:t>Shawaly</a:t>
            </a:r>
            <a:r>
              <a:rPr lang="en-US" sz="1600" dirty="0"/>
              <a:t>, A. E. F. (2024). The impact of Artificial Intelligence on improving tourism service quality in The Egyptian destination. Retrieved from </a:t>
            </a:r>
            <a:r>
              <a:rPr lang="en-US" sz="1600" dirty="0">
                <a:hlinkClick r:id="rId7"/>
              </a:rPr>
              <a:t>https://mfth.journals.ekb.eg/article_385750_9eeee543d5964bbf1fe5234588ebd461.pdf</a:t>
            </a:r>
            <a:endParaRPr lang="en-US" sz="1600" dirty="0"/>
          </a:p>
          <a:p>
            <a:r>
              <a:rPr lang="en-US" sz="1800" dirty="0"/>
              <a:t>Alrasheed, H., </a:t>
            </a:r>
            <a:r>
              <a:rPr lang="en-US" sz="1800" dirty="0" err="1"/>
              <a:t>Alzeer</a:t>
            </a:r>
            <a:r>
              <a:rPr lang="en-US" sz="1800" dirty="0"/>
              <a:t>, A., </a:t>
            </a:r>
            <a:r>
              <a:rPr lang="en-US" sz="1800" dirty="0" err="1"/>
              <a:t>Alhowimel</a:t>
            </a:r>
            <a:r>
              <a:rPr lang="en-US" sz="1800" dirty="0"/>
              <a:t>, A., </a:t>
            </a:r>
            <a:r>
              <a:rPr lang="en-US" sz="1800" dirty="0" err="1"/>
              <a:t>Alshameri</a:t>
            </a:r>
            <a:r>
              <a:rPr lang="en-US" sz="1800" dirty="0"/>
              <a:t>, N., &amp; </a:t>
            </a:r>
            <a:r>
              <a:rPr lang="en-US" sz="1800" dirty="0" err="1"/>
              <a:t>Althyabi</a:t>
            </a:r>
            <a:r>
              <a:rPr lang="en-US" sz="1800" dirty="0"/>
              <a:t>, A. (2020). A multi-level tourism destination recommender </a:t>
            </a:r>
            <a:r>
              <a:rPr lang="en-US" sz="1800" dirty="0" err="1"/>
              <a:t>system.Retrieved</a:t>
            </a:r>
            <a:r>
              <a:rPr lang="en-US" sz="1800" dirty="0"/>
              <a:t> from </a:t>
            </a:r>
            <a:r>
              <a:rPr lang="en-US" sz="1800" dirty="0">
                <a:hlinkClick r:id="rId8"/>
              </a:rPr>
              <a:t>https://www.researchgate.net/publication/340636521_A_Multi-Level_Tourism_Destination_Recommender_System/fulltext/5e96668792851c2f52a2de6c/A-Multi-Level-Tourism-Destination-Recommender-System.pdf?_tp=eyJjb250ZXh0Ijp7ImZpcnN0UGFnZSI6InNpZ251cCIsInBhZ2UiOiJwdWJsaWNhdGlvbiJ9fQ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BF2BE84-2B2D-FB87-552B-6802A44813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99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4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4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3435</TotalTime>
  <Words>1549</Words>
  <Application>Microsoft Office PowerPoint</Application>
  <PresentationFormat>Widescreen</PresentationFormat>
  <Paragraphs>163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Montserrat</vt:lpstr>
      <vt:lpstr>Arial</vt:lpstr>
      <vt:lpstr>Calibri</vt:lpstr>
      <vt:lpstr>Office Theme</vt:lpstr>
      <vt:lpstr>PowerPoint Presentation</vt:lpstr>
      <vt:lpstr>PowerPoint Presentation</vt:lpstr>
      <vt:lpstr>Introduction</vt:lpstr>
      <vt:lpstr>Top Challenges Faced by Tourists in Egypt</vt:lpstr>
      <vt:lpstr>Top Challenges Faced by Tourists in Egypt</vt:lpstr>
      <vt:lpstr>Top Challenges Faced by Tourists in Egypt</vt:lpstr>
      <vt:lpstr>Problem Statement</vt:lpstr>
      <vt:lpstr>Objectives</vt:lpstr>
      <vt:lpstr>Motivation</vt:lpstr>
      <vt:lpstr>Related Work(1/2)</vt:lpstr>
      <vt:lpstr>Related Work(2/2)</vt:lpstr>
      <vt:lpstr>Related Work(2/2)</vt:lpstr>
      <vt:lpstr>Dataset</vt:lpstr>
      <vt:lpstr>Dataset</vt:lpstr>
      <vt:lpstr>APIs</vt:lpstr>
      <vt:lpstr>System Architecture </vt:lpstr>
      <vt:lpstr>Expected Outcomes</vt:lpstr>
      <vt:lpstr>Prototype</vt:lpstr>
      <vt:lpstr>Requirements</vt:lpstr>
      <vt:lpstr>Plan</vt:lpstr>
      <vt:lpstr>References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Abd El Rahman</cp:lastModifiedBy>
  <cp:revision>74</cp:revision>
  <dcterms:modified xsi:type="dcterms:W3CDTF">2025-10-28T18:20:38Z</dcterms:modified>
</cp:coreProperties>
</file>